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A4C69-7E69-351F-8BB1-22F92CA6B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531" y="-145858"/>
            <a:ext cx="8637073" cy="2541431"/>
          </a:xfrm>
        </p:spPr>
        <p:txBody>
          <a:bodyPr>
            <a:normAutofit/>
          </a:bodyPr>
          <a:lstStyle/>
          <a:p>
            <a:r>
              <a:rPr lang="en-IN" dirty="0"/>
              <a:t>  DATATHON ’ 26</a:t>
            </a:r>
            <a:br>
              <a:rPr lang="en-IN" dirty="0"/>
            </a:br>
            <a:r>
              <a:rPr lang="en-IN" dirty="0"/>
              <a:t>       29.01.2026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0127EA-3B72-B9C7-FA0E-AC32DEAE6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902" y="2793503"/>
            <a:ext cx="11420097" cy="1033427"/>
          </a:xfrm>
        </p:spPr>
        <p:txBody>
          <a:bodyPr>
            <a:noAutofit/>
          </a:bodyPr>
          <a:lstStyle/>
          <a:p>
            <a:r>
              <a:rPr lang="en-IN" sz="3600" dirty="0"/>
              <a:t>E-Commerce Data Analysis &amp; Business Insights</a:t>
            </a:r>
            <a:endParaRPr lang="en-US" sz="36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6B3D9A9-0C75-5EAC-F404-9C2361B14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902" y="4155211"/>
            <a:ext cx="11060701" cy="1995218"/>
          </a:xfrm>
        </p:spPr>
        <p:txBody>
          <a:bodyPr>
            <a:noAutofit/>
          </a:bodyPr>
          <a:lstStyle/>
          <a:p>
            <a:r>
              <a:rPr lang="en-IN" sz="2800" dirty="0"/>
              <a:t>Team name: pioneer </a:t>
            </a:r>
          </a:p>
          <a:p>
            <a:r>
              <a:rPr lang="en-IN" sz="2800" dirty="0"/>
              <a:t>Institute name: pioneer college of arts and science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70973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411BA-D990-4DCA-084A-D57705EF1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E-Commerce?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1A7D6-B637-AA1C-F9B0-794BEBD2C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Online buying &amp; selling of goods &amp; services
Operates 24/7, reaching global markets
Powered by data analytics, AI, and digital payments
Reduces cost &amp; increases efficiency for businesses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58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0BF39E8-D62C-3440-A8F1-FC579B060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571" y="671286"/>
            <a:ext cx="10268858" cy="479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12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EC00F-C6E3-ADEF-4D49-8B790A66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619" y="1126990"/>
            <a:ext cx="10504714" cy="884373"/>
          </a:xfrm>
        </p:spPr>
        <p:txBody>
          <a:bodyPr/>
          <a:lstStyle/>
          <a:p>
            <a:r>
              <a:rPr lang="en-IN" dirty="0"/>
              <a:t>Types of E-Commerce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0D28DF9-B33F-77E0-3693-DAEB16D34CD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332766"/>
              </p:ext>
            </p:extLst>
          </p:nvPr>
        </p:nvGraphicFramePr>
        <p:xfrm>
          <a:off x="1133476" y="2011363"/>
          <a:ext cx="4959348" cy="3953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116">
                  <a:extLst>
                    <a:ext uri="{9D8B030D-6E8A-4147-A177-3AD203B41FA5}">
                      <a16:colId xmlns:a16="http://schemas.microsoft.com/office/drawing/2014/main" val="2593757569"/>
                    </a:ext>
                  </a:extLst>
                </a:gridCol>
                <a:gridCol w="1653116">
                  <a:extLst>
                    <a:ext uri="{9D8B030D-6E8A-4147-A177-3AD203B41FA5}">
                      <a16:colId xmlns:a16="http://schemas.microsoft.com/office/drawing/2014/main" val="1104697623"/>
                    </a:ext>
                  </a:extLst>
                </a:gridCol>
                <a:gridCol w="1653116">
                  <a:extLst>
                    <a:ext uri="{9D8B030D-6E8A-4147-A177-3AD203B41FA5}">
                      <a16:colId xmlns:a16="http://schemas.microsoft.com/office/drawing/2014/main" val="3794040846"/>
                    </a:ext>
                  </a:extLst>
                </a:gridCol>
              </a:tblGrid>
              <a:tr h="708070">
                <a:tc>
                  <a:txBody>
                    <a:bodyPr/>
                    <a:lstStyle/>
                    <a:p>
                      <a:r>
                        <a:rPr lang="en-IN" dirty="0"/>
                        <a:t>     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Example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Feature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4553774"/>
                  </a:ext>
                </a:extLst>
              </a:tr>
              <a:tr h="7080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B2C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Amazon, Flipkart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Direct to consumers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250175"/>
                  </a:ext>
                </a:extLst>
              </a:tr>
              <a:tr h="7080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B2B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   Alibaba, </a:t>
                      </a:r>
                      <a:r>
                        <a:rPr lang="en-IN" dirty="0" err="1"/>
                        <a:t>IndiaMART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Bulk transactions, supply chain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388315"/>
                  </a:ext>
                </a:extLst>
              </a:tr>
              <a:tr h="7080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C2C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OLX, eBay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Peer-to-peer trading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860949"/>
                  </a:ext>
                </a:extLst>
              </a:tr>
              <a:tr h="70807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 D2C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Brand Websites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Brand directly sells to customers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787759"/>
                  </a:ext>
                </a:extLst>
              </a:tr>
            </a:tbl>
          </a:graphicData>
        </a:graphic>
      </p:graphicFrame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D1B1222-EEA6-857A-2B51-3A0EE8AA30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81044" y="2222479"/>
            <a:ext cx="4377481" cy="28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2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FAF19-CF34-769F-FC14-EA5407C1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F0D62-2719-4478-2C64-76FCBBC52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Attributes in a Typical E-Commerce Dataset:
Order ID, Customer ID, Product Category
Order Date, Quantity, Price
Payment Method, Delivery Status
Customer Ratings / Reviews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44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6A7E5-3F4E-DDEF-81B3-C5EF2AC75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53A0CAC-5F24-7CB5-6587-7C5D98719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5872929"/>
              </p:ext>
            </p:extLst>
          </p:nvPr>
        </p:nvGraphicFramePr>
        <p:xfrm>
          <a:off x="290286" y="308429"/>
          <a:ext cx="11520711" cy="468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079">
                  <a:extLst>
                    <a:ext uri="{9D8B030D-6E8A-4147-A177-3AD203B41FA5}">
                      <a16:colId xmlns:a16="http://schemas.microsoft.com/office/drawing/2014/main" val="2511608963"/>
                    </a:ext>
                  </a:extLst>
                </a:gridCol>
                <a:gridCol w="1280079">
                  <a:extLst>
                    <a:ext uri="{9D8B030D-6E8A-4147-A177-3AD203B41FA5}">
                      <a16:colId xmlns:a16="http://schemas.microsoft.com/office/drawing/2014/main" val="1922302459"/>
                    </a:ext>
                  </a:extLst>
                </a:gridCol>
                <a:gridCol w="1280079">
                  <a:extLst>
                    <a:ext uri="{9D8B030D-6E8A-4147-A177-3AD203B41FA5}">
                      <a16:colId xmlns:a16="http://schemas.microsoft.com/office/drawing/2014/main" val="17552195"/>
                    </a:ext>
                  </a:extLst>
                </a:gridCol>
                <a:gridCol w="1280079">
                  <a:extLst>
                    <a:ext uri="{9D8B030D-6E8A-4147-A177-3AD203B41FA5}">
                      <a16:colId xmlns:a16="http://schemas.microsoft.com/office/drawing/2014/main" val="1461453757"/>
                    </a:ext>
                  </a:extLst>
                </a:gridCol>
                <a:gridCol w="1280079">
                  <a:extLst>
                    <a:ext uri="{9D8B030D-6E8A-4147-A177-3AD203B41FA5}">
                      <a16:colId xmlns:a16="http://schemas.microsoft.com/office/drawing/2014/main" val="1204528535"/>
                    </a:ext>
                  </a:extLst>
                </a:gridCol>
                <a:gridCol w="1280079">
                  <a:extLst>
                    <a:ext uri="{9D8B030D-6E8A-4147-A177-3AD203B41FA5}">
                      <a16:colId xmlns:a16="http://schemas.microsoft.com/office/drawing/2014/main" val="2260298285"/>
                    </a:ext>
                  </a:extLst>
                </a:gridCol>
                <a:gridCol w="1280079">
                  <a:extLst>
                    <a:ext uri="{9D8B030D-6E8A-4147-A177-3AD203B41FA5}">
                      <a16:colId xmlns:a16="http://schemas.microsoft.com/office/drawing/2014/main" val="3538840431"/>
                    </a:ext>
                  </a:extLst>
                </a:gridCol>
                <a:gridCol w="1280079">
                  <a:extLst>
                    <a:ext uri="{9D8B030D-6E8A-4147-A177-3AD203B41FA5}">
                      <a16:colId xmlns:a16="http://schemas.microsoft.com/office/drawing/2014/main" val="3974186861"/>
                    </a:ext>
                  </a:extLst>
                </a:gridCol>
                <a:gridCol w="1280079">
                  <a:extLst>
                    <a:ext uri="{9D8B030D-6E8A-4147-A177-3AD203B41FA5}">
                      <a16:colId xmlns:a16="http://schemas.microsoft.com/office/drawing/2014/main" val="3400962108"/>
                    </a:ext>
                  </a:extLst>
                </a:gridCol>
              </a:tblGrid>
              <a:tr h="754224">
                <a:tc>
                  <a:txBody>
                    <a:bodyPr/>
                    <a:lstStyle/>
                    <a:p>
                      <a:r>
                        <a:rPr lang="en-IN" dirty="0"/>
                        <a:t>Order 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 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 Category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Order 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Quantity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Payment Method
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Delivery Status
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570461"/>
                  </a:ext>
                </a:extLst>
              </a:tr>
              <a:tr h="754224">
                <a:tc>
                  <a:txBody>
                    <a:bodyPr/>
                    <a:lstStyle/>
                    <a:p>
                      <a:r>
                        <a:rPr lang="en-IN" dirty="0"/>
                        <a:t>1001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Electronics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2026-01-05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905042"/>
                  </a:ext>
                </a:extLst>
              </a:tr>
              <a:tr h="754224">
                <a:tc>
                  <a:txBody>
                    <a:bodyPr/>
                    <a:lstStyle/>
                    <a:p>
                      <a:r>
                        <a:rPr lang="en-IN" dirty="0"/>
                        <a:t>1002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Fashion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2026-01-06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3200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Credit card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Delivered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02158"/>
                  </a:ext>
                </a:extLst>
              </a:tr>
              <a:tr h="754224">
                <a:tc>
                  <a:txBody>
                    <a:bodyPr/>
                    <a:lstStyle/>
                    <a:p>
                      <a:r>
                        <a:rPr lang="en-IN" dirty="0"/>
                        <a:t>1003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C003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Groceries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2026-01-07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Wallet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Delivered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64136"/>
                  </a:ext>
                </a:extLst>
              </a:tr>
              <a:tr h="754224">
                <a:tc>
                  <a:txBody>
                    <a:bodyPr/>
                    <a:lstStyle/>
                    <a:p>
                      <a:r>
                        <a:rPr lang="en-IN" dirty="0"/>
                        <a:t>1004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Home &amp; Lifestyle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2026-01-08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8500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Cash on delivery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Pending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..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581343"/>
                  </a:ext>
                </a:extLst>
              </a:tr>
              <a:tr h="754224">
                <a:tc>
                  <a:txBody>
                    <a:bodyPr/>
                    <a:lstStyle/>
                    <a:p>
                      <a:r>
                        <a:rPr lang="en-IN" dirty="0"/>
                        <a:t>1005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Electronics
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2026-01-09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Delivered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00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761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1B753-7C7F-52A9-69E4-67742B35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Trend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C902A-60A6-ED91-4B8B-A40313341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Monthly Sales Growth: Shows business momentum
Seasonal Peaks: Diwali, New Year, Black Friday
Revenue Insights: Helps allocate marketing budgets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4693C-2534-1BD7-0D47-EACCD482150E}"/>
              </a:ext>
            </a:extLst>
          </p:cNvPr>
          <p:cNvSpPr txBox="1"/>
          <p:nvPr/>
        </p:nvSpPr>
        <p:spPr>
          <a:xfrm>
            <a:off x="5190671" y="2523671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296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EBE3-FFB9-CC13-1E65-B4309055B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Category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4D1D0-8AF0-D541-12EF-549F5488EF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Electronics: Highest revenue &amp; repeat purchases
Fashion: Trending products &amp; high seasonal demand
Groceries: Frequent low-value purchases
Home &amp; Lifestyle: Moderate growth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FCC46D-9578-BDE6-0E00-DA9E1FB074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3500" y="2280541"/>
            <a:ext cx="4645025" cy="291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43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D880-A7B2-8BC7-B55D-E7A1B09E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Behaviour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D1BEA-FFA2-CB25-610F-E4FFCABB54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New vs Returning Customers: Shows loyalty
Average Order Value (AOV): Identify profitable segments
Purchase Frequency: Weekly vs monthly shoppers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D6F3A0-DFBD-FBEF-6A5A-5A2D53368B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3500" y="2241833"/>
            <a:ext cx="4645025" cy="299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51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C632-A4A6-F5F6-E860-44D1F6E35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Payment Method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98779-4990-8DB0-DE5D-11AA2A56F7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UPI: 50% transactions (most preferred)
Credit/Debit Cards: 25%
Wallets: 15%
Cash on Delivery: 10%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EC6F9-9B86-FF52-14F8-57779489205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13500" y="2205444"/>
            <a:ext cx="4645025" cy="306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50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9767-C392-FE95-E017-503A9397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Quote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B4BC0-0D6C-411B-446C-21146B6F0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286" y="2269732"/>
            <a:ext cx="8487639" cy="345061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</a:t>
            </a:r>
            <a:r>
              <a:rPr lang="en-IN" sz="4000" dirty="0"/>
              <a:t>“Data is the new oil of the digital economy.” </a:t>
            </a:r>
          </a:p>
          <a:p>
            <a:pPr marL="0" indent="0">
              <a:buNone/>
            </a:pPr>
            <a:r>
              <a:rPr lang="en-IN" sz="4000" dirty="0"/>
              <a:t>               </a:t>
            </a:r>
            <a:r>
              <a:rPr lang="en-IN" dirty="0"/>
              <a:t>                 </a:t>
            </a:r>
            <a:r>
              <a:rPr lang="en-IN" sz="4400" dirty="0"/>
              <a:t> — Clive </a:t>
            </a:r>
            <a:r>
              <a:rPr lang="en-IN" sz="4400" dirty="0" err="1"/>
              <a:t>Humby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20528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741A-AB65-0389-EC97-47992D04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F8F30-CD3C-411C-A846-6AD699178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Data-driven decisions → boost revenue &amp; efficiency
Customer insights → improve retention &amp; loyalty
AI &amp; ML integration → personalized recommendations
Future of E-Commerce → hyper-personalized, predictive, and automated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002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8134-7E33-89AF-6E91-31E4F3079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67037"/>
            <a:ext cx="9603275" cy="1049235"/>
          </a:xfrm>
        </p:spPr>
        <p:txBody>
          <a:bodyPr>
            <a:normAutofit/>
          </a:bodyPr>
          <a:lstStyle/>
          <a:p>
            <a:r>
              <a:rPr lang="en-IN" sz="6000" dirty="0"/>
              <a:t>Git hub link 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8953-9C37-30B9-0E0C-F73602E60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7112" y="2381164"/>
            <a:ext cx="9192208" cy="25605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8600" dirty="0"/>
              <a:t>Git</a:t>
            </a:r>
            <a:r>
              <a:rPr lang="en-IN" sz="6000" dirty="0"/>
              <a:t> </a:t>
            </a:r>
            <a:r>
              <a:rPr lang="en-IN" sz="8600" dirty="0"/>
              <a:t>hub</a:t>
            </a:r>
            <a:r>
              <a:rPr lang="en-IN" sz="6000" dirty="0"/>
              <a:t> </a:t>
            </a:r>
            <a:r>
              <a:rPr lang="en-IN" sz="10000" dirty="0"/>
              <a:t>link</a:t>
            </a:r>
            <a:r>
              <a:rPr lang="en-IN" sz="6000" dirty="0"/>
              <a:t> :https://</a:t>
            </a:r>
            <a:r>
              <a:rPr lang="en-IN" sz="6000" dirty="0" err="1"/>
              <a:t>github.com</a:t>
            </a:r>
            <a:r>
              <a:rPr lang="en-IN" sz="6000" dirty="0"/>
              <a:t>/priyankasanthosh016-ship-it/Datathon-26.git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260541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Gallery</vt:lpstr>
      <vt:lpstr>  DATATHON ’ 26        29.01.2026</vt:lpstr>
      <vt:lpstr>What is E-Commerce?</vt:lpstr>
      <vt:lpstr>PowerPoint Presentation</vt:lpstr>
      <vt:lpstr>Types of E-Commerce</vt:lpstr>
      <vt:lpstr>Dataset Overview</vt:lpstr>
      <vt:lpstr>PowerPoint Presentation</vt:lpstr>
      <vt:lpstr>Sales Trend Analysis</vt:lpstr>
      <vt:lpstr>Product Category Performance</vt:lpstr>
      <vt:lpstr>Customer Behaviour Analysis</vt:lpstr>
      <vt:lpstr>Payment Method Analysis</vt:lpstr>
      <vt:lpstr>Key Quote</vt:lpstr>
      <vt:lpstr>Conclusion &amp; Insights</vt:lpstr>
      <vt:lpstr>Git hub link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DATATHON ’ 26        29.01.2026</dc:title>
  <dc:creator>PRIYANKA SANTHOSH</dc:creator>
  <cp:lastModifiedBy>PRIYANKA SANTHOSH</cp:lastModifiedBy>
  <cp:revision>5</cp:revision>
  <dcterms:created xsi:type="dcterms:W3CDTF">2026-01-16T12:51:18Z</dcterms:created>
  <dcterms:modified xsi:type="dcterms:W3CDTF">2026-01-16T14:27:35Z</dcterms:modified>
</cp:coreProperties>
</file>